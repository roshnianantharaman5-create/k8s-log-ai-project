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08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1">
                <a:solidFill>
                  <a:srgbClr val="8CE8D3"/>
                </a:solidFill>
                <a:latin typeface="Aptos"/>
              </a:rPr>
              <a:t>CLOUD 2007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6492240" cy="1417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From noisy logs
to a helpful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603504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700" b="0">
                <a:solidFill>
                  <a:srgbClr val="CDD6EB"/>
                </a:solidFill>
                <a:latin typeface="Aptos"/>
              </a:rPr>
              <a:t>A technical walkthrough of the Kubernetes observability and AI failure-prediction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60520"/>
            <a:ext cx="1645920" cy="292608"/>
          </a:xfrm>
          <a:prstGeom prst="roundRect">
            <a:avLst/>
          </a:prstGeom>
          <a:solidFill>
            <a:srgbClr val="2F3F5E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10812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00" b="1">
                <a:solidFill>
                  <a:srgbClr val="BED2FF"/>
                </a:solidFill>
                <a:latin typeface="Aptos"/>
              </a:rPr>
              <a:t>KIND · DOCKER DESKTOP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4160520"/>
            <a:ext cx="1234440" cy="292608"/>
          </a:xfrm>
          <a:prstGeom prst="roundRect">
            <a:avLst/>
          </a:prstGeom>
          <a:solidFill>
            <a:srgbClr val="2F3F5E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4210812"/>
            <a:ext cx="12344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00" b="1">
                <a:solidFill>
                  <a:srgbClr val="BED2FF"/>
                </a:solidFill>
                <a:latin typeface="Aptos"/>
              </a:rPr>
              <a:t>LGTM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4160520"/>
            <a:ext cx="1600200" cy="292608"/>
          </a:xfrm>
          <a:prstGeom prst="roundRect">
            <a:avLst/>
          </a:prstGeom>
          <a:solidFill>
            <a:srgbClr val="2F3F5E"/>
          </a:solidFill>
          <a:ln w="12700">
            <a:solidFill>
              <a:srgbClr val="2F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4210812"/>
            <a:ext cx="16002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00" b="1">
                <a:solidFill>
                  <a:srgbClr val="BED2FF"/>
                </a:solidFill>
                <a:latin typeface="Aptos"/>
              </a:rPr>
              <a:t>FASTAPI + STREAMLIT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325880"/>
            <a:ext cx="2011680" cy="2011680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6920" y="3246120"/>
            <a:ext cx="1143000" cy="1143000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43800" y="4069080"/>
            <a:ext cx="1188720" cy="1188720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75688"/>
            <a:ext cx="20116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657600"/>
            <a:ext cx="11430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498848"/>
            <a:ext cx="1188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144768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00" b="0">
                <a:solidFill>
                  <a:srgbClr val="A0B0CF"/>
                </a:solidFill>
                <a:latin typeface="Aptos"/>
              </a:rPr>
              <a:t>project.localhost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A running app leaves clues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19072"/>
            <a:ext cx="10424160" cy="438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0">
                <a:solidFill>
                  <a:srgbClr val="65708A"/>
                </a:solidFill>
                <a:latin typeface="Aptos"/>
              </a:rPr>
              <a:t>The project turns those clues into a small, understandable operational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2670048"/>
            <a:ext cx="164592" cy="164592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0604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The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2980944" cy="1691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Game 2048 is the demo workload. It gives us a browser-facing service to run, watch, and troubleshoot.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46888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8576" y="2670048"/>
            <a:ext cx="164592" cy="164592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60604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The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090672"/>
            <a:ext cx="2980944" cy="1691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Logs, metrics, and traces tell us what happened, how much happened, and where time was spent.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246888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4" y="2670048"/>
            <a:ext cx="164592" cy="164592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260604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The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090672"/>
            <a:ext cx="2980944" cy="1691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A FastAPI service reads recent logs and returns a risk estimate with supporting event counts.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41648" y="3685032"/>
            <a:ext cx="329184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08975" y="3685032"/>
            <a:ext cx="329185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97280" y="5513832"/>
            <a:ext cx="99669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Aptos"/>
              </a:rPr>
              <a:t>Goal: reduce the distance between “something feels wrong” and “here is the evidence.”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TECHNICAL COMPONENT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Three namespaces, one connected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19072"/>
            <a:ext cx="10424160" cy="438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0">
                <a:solidFill>
                  <a:srgbClr val="65708A"/>
                </a:solidFill>
                <a:latin typeface="Aptos"/>
              </a:rPr>
              <a:t>Ingress is the front door; services route traffic; workloads do the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3063240" cy="3154680"/>
          </a:xfrm>
          <a:prstGeom prst="roundRect">
            <a:avLst/>
          </a:prstGeom>
          <a:solidFill>
            <a:srgbClr val="EBE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600" b="1">
                <a:solidFill>
                  <a:srgbClr val="4263EB"/>
                </a:solidFill>
                <a:latin typeface="Aptos"/>
              </a:rPr>
              <a:t>game-2048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2331720"/>
            <a:ext cx="3063240" cy="3154680"/>
          </a:xfrm>
          <a:prstGeom prst="roundRect">
            <a:avLst/>
          </a:prstGeom>
          <a:solidFill>
            <a:srgbClr val="E7FAF5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578608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600" b="1">
                <a:solidFill>
                  <a:srgbClr val="18A999"/>
                </a:solidFill>
                <a:latin typeface="Aptos"/>
              </a:rPr>
              <a:t>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2331720"/>
            <a:ext cx="3063240" cy="315468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4" y="2578608"/>
            <a:ext cx="25603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600" b="1">
                <a:solidFill>
                  <a:srgbClr val="F08C46"/>
                </a:solidFill>
                <a:latin typeface="Aptos"/>
              </a:rPr>
              <a:t>ai-monitoring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154680"/>
            <a:ext cx="9601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Ingress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3154680"/>
            <a:ext cx="9601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6" y="3886200"/>
            <a:ext cx="9601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Pods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38528" y="3438144"/>
            <a:ext cx="713232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938528" y="3602736"/>
            <a:ext cx="713232" cy="283464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7136" y="3154680"/>
            <a:ext cx="1143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Alloy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54680"/>
            <a:ext cx="9601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Loki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977639"/>
            <a:ext cx="109728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Grafana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438144"/>
            <a:ext cx="530352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172200" y="3621024"/>
            <a:ext cx="457200" cy="356615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65008" y="3154680"/>
            <a:ext cx="11430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3154680"/>
            <a:ext cx="11887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Streamlit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3977639"/>
            <a:ext cx="109728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ML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35440" y="3438144"/>
            <a:ext cx="384048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802368" y="3621024"/>
            <a:ext cx="347472" cy="356615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11880" y="3703320"/>
            <a:ext cx="548640" cy="0"/>
          </a:xfrm>
          <a:prstGeom prst="line">
            <a:avLst/>
          </a:prstGeom>
          <a:ln w="31750">
            <a:solidFill>
              <a:srgbClr val="657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50608" y="3703320"/>
            <a:ext cx="512064" cy="0"/>
          </a:xfrm>
          <a:prstGeom prst="line">
            <a:avLst/>
          </a:prstGeom>
          <a:ln w="31750">
            <a:solidFill>
              <a:srgbClr val="657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200" b="0">
                <a:solidFill>
                  <a:srgbClr val="65708A"/>
                </a:solidFill>
                <a:latin typeface="Aptos"/>
              </a:rPr>
              <a:t>Mimir stores metrics  ·  Tempo stores traces  ·  MinIO gives Loki shared object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WHAT EACH PART CONTRIBUTES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Keep the jobs small and the hand-offs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359152"/>
            <a:ext cx="182880" cy="182880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331720"/>
            <a:ext cx="182880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Game 2048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1">
                <a:solidFill>
                  <a:srgbClr val="4263EB"/>
                </a:solidFill>
                <a:latin typeface="Aptos"/>
              </a:rPr>
              <a:t>demo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31720"/>
            <a:ext cx="530352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A real browser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16352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2935224"/>
            <a:ext cx="182880" cy="182880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907792"/>
            <a:ext cx="182880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Alloy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07792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1">
                <a:solidFill>
                  <a:srgbClr val="18A999"/>
                </a:solidFill>
                <a:latin typeface="Aptos"/>
              </a:rPr>
              <a:t>collector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07792"/>
            <a:ext cx="530352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Reads container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92424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511296"/>
            <a:ext cx="182880" cy="182880"/>
          </a:xfrm>
          <a:prstGeom prst="ellipse">
            <a:avLst/>
          </a:prstGeom>
          <a:solidFill>
            <a:srgbClr val="DD6B9B"/>
          </a:solidFill>
          <a:ln w="12700">
            <a:solidFill>
              <a:srgbClr val="DD6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3483864"/>
            <a:ext cx="182880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Loki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483864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1">
                <a:solidFill>
                  <a:srgbClr val="DD6B9B"/>
                </a:solidFill>
                <a:latin typeface="Aptos"/>
              </a:rPr>
              <a:t>log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483864"/>
            <a:ext cx="530352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Searches recent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68496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087368"/>
            <a:ext cx="182880" cy="182880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4059935"/>
            <a:ext cx="182880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059935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1">
                <a:solidFill>
                  <a:srgbClr val="F08C46"/>
                </a:solidFill>
                <a:latin typeface="Aptos"/>
              </a:rPr>
              <a:t>control 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59935"/>
            <a:ext cx="530352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Charts and explores signals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44568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4663440"/>
            <a:ext cx="182880" cy="182880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53312" y="4636008"/>
            <a:ext cx="182880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636008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1">
                <a:solidFill>
                  <a:srgbClr val="4263EB"/>
                </a:solidFill>
                <a:latin typeface="Aptos"/>
              </a:rPr>
              <a:t>prediction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636008"/>
            <a:ext cx="530352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Turns log windows into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120640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7552" y="5239512"/>
            <a:ext cx="182880" cy="182880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212079"/>
            <a:ext cx="182880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Streamlit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212079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1">
                <a:solidFill>
                  <a:srgbClr val="18A999"/>
                </a:solidFill>
                <a:latin typeface="Aptos"/>
              </a:rPr>
              <a:t>human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212079"/>
            <a:ext cx="5303520" cy="21945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Explains the latest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OBSERVABILITY 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Three questions, three kinds of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24328"/>
            <a:ext cx="164592" cy="164592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56032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Logs · what happened?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44952"/>
            <a:ext cx="2980944" cy="18745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A timestamped note: “request timed out”, “service started”, or “health check passed”. Stored in Loki.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4231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8576" y="2624328"/>
            <a:ext cx="164592" cy="164592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2896" y="256032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Metrics · how much?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044952"/>
            <a:ext cx="2980944" cy="18745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Numbers over time: request counts, error rate, CPU, memory, and queue size. Stored in Mimir.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4231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84464" y="2624328"/>
            <a:ext cx="164592" cy="164592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256032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Traces · where did time go?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044952"/>
            <a:ext cx="2980944" cy="18745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A request’s journey across services. Tempo helps locate the slow part.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850392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Aptos"/>
              </a:rPr>
              <a:t>Grafana is the shared window over all three.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HOW RAW LOGS BECOME A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The model is a warning light, not a replacement for an engineer.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61488"/>
            <a:ext cx="19019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98448" y="2514600"/>
            <a:ext cx="493776" cy="493776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035808"/>
            <a:ext cx="1682496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900" b="0">
                <a:solidFill>
                  <a:srgbClr val="65708A"/>
                </a:solidFill>
                <a:latin typeface="Aptos"/>
              </a:rPr>
              <a:t>Loki query_range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2761488"/>
            <a:ext cx="19019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1880" y="2514600"/>
            <a:ext cx="493776" cy="493776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3035808"/>
            <a:ext cx="1682496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364992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900" b="0">
                <a:solidFill>
                  <a:srgbClr val="65708A"/>
                </a:solidFill>
                <a:latin typeface="Aptos"/>
              </a:rPr>
              <a:t>consistent data 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2761488"/>
            <a:ext cx="19019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25312" y="2514600"/>
            <a:ext cx="493776" cy="493776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035808"/>
            <a:ext cx="1682496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Vectorize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3364992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900" b="0">
                <a:solidFill>
                  <a:srgbClr val="65708A"/>
                </a:solidFill>
                <a:latin typeface="Aptos"/>
              </a:rPr>
              <a:t>TF-IDF + numbers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34656" y="2761488"/>
            <a:ext cx="19019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38744" y="2514600"/>
            <a:ext cx="493776" cy="493776"/>
          </a:xfrm>
          <a:prstGeom prst="ellipse">
            <a:avLst/>
          </a:prstGeom>
          <a:solidFill>
            <a:srgbClr val="DD6B9B"/>
          </a:solidFill>
          <a:ln w="12700">
            <a:solidFill>
              <a:srgbClr val="DD6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3035808"/>
            <a:ext cx="1682496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3364992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900" b="0">
                <a:solidFill>
                  <a:srgbClr val="65708A"/>
                </a:solidFill>
                <a:latin typeface="Aptos"/>
              </a:rPr>
              <a:t>logistic regression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48088" y="2761488"/>
            <a:ext cx="190195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52176" y="2514600"/>
            <a:ext cx="493776" cy="493776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57815" y="3035808"/>
            <a:ext cx="1682496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1">
                <a:solidFill>
                  <a:srgbClr val="172033"/>
                </a:solidFill>
                <a:latin typeface="Aptos"/>
              </a:rP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3364992"/>
            <a:ext cx="1627632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900" b="0">
                <a:solidFill>
                  <a:srgbClr val="65708A"/>
                </a:solidFill>
                <a:latin typeface="Aptos"/>
              </a:rPr>
              <a:t>FastAPI 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14600" y="3337560"/>
            <a:ext cx="320040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28032" y="3337560"/>
            <a:ext cx="320040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41464" y="3337560"/>
            <a:ext cx="320040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54896" y="3337560"/>
            <a:ext cx="320040" cy="0"/>
          </a:xfrm>
          <a:prstGeom prst="line">
            <a:avLst/>
          </a:prstGeom>
          <a:ln w="31750">
            <a:solidFill>
              <a:srgbClr val="F08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05840" y="4754880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Training artifacts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681728"/>
            <a:ext cx="1828800" cy="292608"/>
          </a:xfrm>
          <a:prstGeom prst="roundRect">
            <a:avLst/>
          </a:prstGeom>
          <a:solidFill>
            <a:srgbClr val="EBEFFF"/>
          </a:solidFill>
          <a:ln w="12700">
            <a:solidFill>
              <a:srgbClr val="EB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4732020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00" b="1">
                <a:solidFill>
                  <a:srgbClr val="4263EB"/>
                </a:solidFill>
                <a:latin typeface="Aptos"/>
              </a:rPr>
              <a:t>artifacts/model.joblib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83480" y="4681728"/>
            <a:ext cx="1143000" cy="292608"/>
          </a:xfrm>
          <a:prstGeom prst="roundRect">
            <a:avLst/>
          </a:prstGeom>
          <a:solidFill>
            <a:srgbClr val="E7FAF5"/>
          </a:solidFill>
          <a:ln w="12700">
            <a:solidFill>
              <a:srgbClr val="E7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4732020"/>
            <a:ext cx="1143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00" b="1">
                <a:solidFill>
                  <a:srgbClr val="18A999"/>
                </a:solidFill>
                <a:latin typeface="Aptos"/>
              </a:rPr>
              <a:t>metrics.json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681728"/>
            <a:ext cx="1600200" cy="29260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FF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732020"/>
            <a:ext cx="16002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00" b="1">
                <a:solidFill>
                  <a:srgbClr val="F08C46"/>
                </a:solidFill>
                <a:latin typeface="Aptos"/>
              </a:rPr>
              <a:t>feature_schema.json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57784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400" b="0">
                <a:solidFill>
                  <a:srgbClr val="65708A"/>
                </a:solidFill>
                <a:latin typeface="Aptos"/>
              </a:rPr>
              <a:t>The live endpoint reports probability, risk level, record count, and top event 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SAMPLES FROM THE RUNNING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The same evidence is available to people and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5349240" cy="35204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1460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00" b="1">
                <a:solidFill>
                  <a:srgbClr val="8CE8D3"/>
                </a:solidFill>
                <a:latin typeface="Aptos"/>
              </a:rPr>
              <a:t>LIVE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4389120" cy="20116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700" b="0">
                <a:solidFill>
                  <a:srgbClr val="DCE7FF"/>
                </a:solidFill>
                <a:latin typeface="Consolas"/>
              </a:rPr>
              <a:t>{
  "predicted_failure": false,
  "failure_probability": 0.2982,
  "risk_level": "normal",
  "records_analyzed": 104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212080" cy="3520440"/>
          </a:xfrm>
          <a:prstGeom prst="roundRect">
            <a:avLst/>
          </a:prstGeom>
          <a:solidFill>
            <a:srgbClr val="E7FAF5"/>
          </a:solidFill>
          <a:ln w="12700">
            <a:solidFill>
              <a:srgbClr val="E7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51460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00" b="1">
                <a:solidFill>
                  <a:srgbClr val="18A999"/>
                </a:solidFill>
                <a:latin typeface="Aptos"/>
              </a:rPr>
              <a:t>LOKI / LOGQL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4389120" cy="1554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700" b="0">
                <a:solidFill>
                  <a:srgbClr val="172033"/>
                </a:solidFill>
                <a:latin typeface="Consolas"/>
              </a:rPr>
              <a:t>{namespace="ai-monitoring"}
  | json
  | event_type =~
    "timeout|http_error"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983480"/>
            <a:ext cx="420624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0">
                <a:solidFill>
                  <a:srgbClr val="65708A"/>
                </a:solidFill>
                <a:latin typeface="Aptos"/>
              </a:rPr>
              <a:t>Logs are JSONL; the API exposes Prometheus metrics at /metrics/.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TRY THE LIVE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Everything is routed through the kind ingress controller.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48840"/>
            <a:ext cx="10149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276856"/>
            <a:ext cx="182880" cy="182880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49377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Consolas"/>
              </a:rPr>
              <a:t>project.localhost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240280"/>
            <a:ext cx="35661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0">
                <a:solidFill>
                  <a:srgbClr val="65708A"/>
                </a:solidFill>
                <a:latin typeface="Aptos"/>
              </a:rPr>
              <a:t>this 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88920"/>
            <a:ext cx="10149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4440" y="2916936"/>
            <a:ext cx="182880" cy="182880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880360"/>
            <a:ext cx="49377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Consolas"/>
              </a:rPr>
              <a:t>game-2048.localhost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880360"/>
            <a:ext cx="35661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0">
                <a:solidFill>
                  <a:srgbClr val="65708A"/>
                </a:solidFill>
                <a:latin typeface="Aptos"/>
              </a:rPr>
              <a:t>demo 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429000"/>
            <a:ext cx="10149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3557016"/>
            <a:ext cx="182880" cy="182880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520440"/>
            <a:ext cx="49377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Consolas"/>
              </a:rPr>
              <a:t>ai-monitoring.localhost/predict/current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520440"/>
            <a:ext cx="35661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0">
                <a:solidFill>
                  <a:srgbClr val="65708A"/>
                </a:solidFill>
                <a:latin typeface="Aptos"/>
              </a:rPr>
              <a:t>live model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069079"/>
            <a:ext cx="10149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34440" y="4197095"/>
            <a:ext cx="182880" cy="182880"/>
          </a:xfrm>
          <a:prstGeom prst="ellipse">
            <a:avLst/>
          </a:prstGeom>
          <a:solidFill>
            <a:srgbClr val="DD6B9B"/>
          </a:solidFill>
          <a:ln w="12700">
            <a:solidFill>
              <a:srgbClr val="DD6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19"/>
            <a:ext cx="49377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Consolas"/>
              </a:rPr>
              <a:t>dashboard.localhost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160519"/>
            <a:ext cx="35661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0">
                <a:solidFill>
                  <a:srgbClr val="65708A"/>
                </a:solidFill>
                <a:latin typeface="Aptos"/>
              </a:rPr>
              <a:t>Streamlit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709160"/>
            <a:ext cx="10149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34440" y="4837176"/>
            <a:ext cx="182880" cy="182880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800600"/>
            <a:ext cx="49377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Consolas"/>
              </a:rPr>
              <a:t>grafana.localhost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800600"/>
            <a:ext cx="35661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0">
                <a:solidFill>
                  <a:srgbClr val="65708A"/>
                </a:solidFill>
                <a:latin typeface="Aptos"/>
              </a:rPr>
              <a:t>observability control 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1371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Quick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532120"/>
            <a:ext cx="88696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Consolas"/>
              </a:rPr>
              <a:t>kubectl get pods -A  ·  kubectl get ingress -A  ·  Invoke-RestMethod http://ai-monitoring.localhost/predict/current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900" b="1">
                <a:solidFill>
                  <a:srgbClr val="4263EB"/>
                </a:solidFill>
                <a:latin typeface="Aptos"/>
              </a:rPr>
              <a:t>DEPLOYMENT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A local, repeatable lab that behaves like a small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3375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532888"/>
            <a:ext cx="164592" cy="164592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68879"/>
            <a:ext cx="26974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2935224" cy="17373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kind cloud2007
3 nodes
Docker Desktop
Ingress on localhost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33375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7" y="2532888"/>
            <a:ext cx="164592" cy="164592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7" y="2468879"/>
            <a:ext cx="26974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953512"/>
            <a:ext cx="2935224" cy="17373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LGTM stack
Alloy collectors
Loki → MinIO
Mimir + Tempo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31720"/>
            <a:ext cx="33375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532888"/>
            <a:ext cx="164592" cy="164592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2468879"/>
            <a:ext cx="26974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53512"/>
            <a:ext cx="2935224" cy="17373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00" b="0">
                <a:solidFill>
                  <a:srgbClr val="65708A"/>
                </a:solidFill>
                <a:latin typeface="Aptos"/>
              </a:rPr>
              <a:t>ai-monitoring namespace
FastAPI + Streamlit
Synthetic event generator
Model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Source of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532120"/>
            <a:ext cx="75895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4263EB"/>
                </a:solidFill>
                <a:latin typeface="Consolas"/>
              </a:rPr>
              <a:t>github.com/roshnianantharaman5-create/k8s-log-ai-project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1">
                <a:solidFill>
                  <a:srgbClr val="4263EB"/>
                </a:solidFill>
                <a:latin typeface="Aptos"/>
              </a:rPr>
              <a:t>CLOUD 2007  ·  KUBERNETES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37744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1">
                <a:solidFill>
                  <a:srgbClr val="65708A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11155680" cy="10972"/>
          </a:xfrm>
          <a:prstGeom prst="rect">
            <a:avLst/>
          </a:prstGeom>
          <a:solidFill>
            <a:srgbClr val="E2E6EF"/>
          </a:solidFill>
          <a:ln w="12700">
            <a:solidFill>
              <a:srgbClr val="E2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54864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700" b="0">
                <a:solidFill>
                  <a:srgbClr val="65708A"/>
                </a:solidFill>
                <a:latin typeface="Aptos"/>
              </a:rPr>
              <a:t>kind cluster: cloud2007  ·  project.localhost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00" b="1">
                <a:solidFill>
                  <a:srgbClr val="8CE8D3"/>
                </a:solidFill>
                <a:latin typeface="Aptos"/>
              </a:rPr>
              <a:t>THE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6858000" cy="1325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Observe first.
Explain second.
Act with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6126480" cy="7315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700" b="0">
                <a:solidFill>
                  <a:srgbClr val="CDD6EB"/>
                </a:solidFill>
                <a:latin typeface="Aptos"/>
              </a:rPr>
              <a:t>This project connects a demo workload, a telemetry pipeline, and an AI-assisted warning layer in one approachable Kubernetes lab.</a:t>
            </a:r>
          </a:p>
        </p:txBody>
      </p:sp>
      <p:sp>
        <p:nvSpPr>
          <p:cNvPr id="10" name="Oval 9"/>
          <p:cNvSpPr/>
          <p:nvPr/>
        </p:nvSpPr>
        <p:spPr>
          <a:xfrm>
            <a:off x="8366760" y="1828800"/>
            <a:ext cx="1920240" cy="1920240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3474720"/>
            <a:ext cx="1005840" cy="1005840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0" y="4114800"/>
            <a:ext cx="1097280" cy="1097280"/>
          </a:xfrm>
          <a:prstGeom prst="ellipse">
            <a:avLst/>
          </a:prstGeom>
          <a:solidFill>
            <a:srgbClr val="F08C46"/>
          </a:solidFill>
          <a:ln w="12700">
            <a:solidFill>
              <a:srgbClr val="F0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542032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840480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535424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00" b="1">
                <a:solidFill>
                  <a:srgbClr val="A0B0C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2007 - Kubernetes Log Analysis and Observability</dc:title>
  <dc:subject>Technical walkthrough of the kind-based LGTM and AI monitoring project</dc:subject>
  <dc:creator>Cloud 2007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